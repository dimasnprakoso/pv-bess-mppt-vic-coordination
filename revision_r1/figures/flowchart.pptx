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336000" cy="59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rminator 1"/>
          <p:cNvSpPr/>
          <p:nvPr/>
        </p:nvSpPr>
        <p:spPr>
          <a:xfrm>
            <a:off x="936000" y="108000"/>
            <a:ext cx="1080000" cy="252000"/>
          </a:xfrm>
          <a:prstGeom prst="flowChartTerminator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Start</a:t>
            </a:r>
          </a:p>
        </p:txBody>
      </p:sp>
      <p:sp>
        <p:nvSpPr>
          <p:cNvPr id="3" name="Data 2"/>
          <p:cNvSpPr/>
          <p:nvPr/>
        </p:nvSpPr>
        <p:spPr>
          <a:xfrm>
            <a:off x="288000" y="504000"/>
            <a:ext cx="2376000" cy="468000"/>
          </a:xfrm>
          <a:prstGeom prst="flowChartInputOutpu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Input: plant and grid parameters,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scenarios S1–S5 (Table 2)</a:t>
            </a:r>
          </a:p>
        </p:txBody>
      </p:sp>
      <p:sp>
        <p:nvSpPr>
          <p:cNvPr id="4" name="Process 3"/>
          <p:cNvSpPr/>
          <p:nvPr/>
        </p:nvSpPr>
        <p:spPr>
          <a:xfrm>
            <a:off x="288000" y="1116000"/>
            <a:ext cx="2376000" cy="504000"/>
          </a:xfrm>
          <a:prstGeom prst="flowChartProcess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Averaged PV–BESS model: single-diode PV,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P&amp;O MPPT, battery SOC, PLL, VIC and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aggregate swing equation (Python and Julia)</a:t>
            </a:r>
          </a:p>
        </p:txBody>
      </p:sp>
      <p:sp>
        <p:nvSpPr>
          <p:cNvPr id="5" name="Process 4"/>
          <p:cNvSpPr/>
          <p:nvPr/>
        </p:nvSpPr>
        <p:spPr>
          <a:xfrm>
            <a:off x="288000" y="1764000"/>
            <a:ext cx="2376000" cy="432000"/>
          </a:xfrm>
          <a:prstGeom prst="flowChartProcess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Coordination law: severity weight α (3), SOC-aware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gate β (4), reference P</a:t>
            </a:r>
            <a:r>
              <a:rPr sz="800" b="0" baseline="-25000">
                <a:solidFill>
                  <a:srgbClr val="000000"/>
                </a:solidFill>
                <a:latin typeface="Times New Roman"/>
              </a:rPr>
              <a:t>ref</a:t>
            </a:r>
            <a:r>
              <a:rPr sz="800" b="0">
                <a:solidFill>
                  <a:srgbClr val="000000"/>
                </a:solidFill>
                <a:latin typeface="Times New Roman"/>
              </a:rPr>
              <a:t> (5); four baselines</a:t>
            </a:r>
          </a:p>
        </p:txBody>
      </p:sp>
      <p:sp>
        <p:nvSpPr>
          <p:cNvPr id="6" name="Process 5"/>
          <p:cNvSpPr/>
          <p:nvPr/>
        </p:nvSpPr>
        <p:spPr>
          <a:xfrm>
            <a:off x="288000" y="2340000"/>
            <a:ext cx="2376000" cy="432000"/>
          </a:xfrm>
          <a:prstGeom prst="flowChartProcess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Robust tuning: Monte Carlo sampling with CVaR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(γ = 0.95), NSGA-II, knee-point gain set</a:t>
            </a:r>
          </a:p>
        </p:txBody>
      </p:sp>
      <p:sp>
        <p:nvSpPr>
          <p:cNvPr id="7" name="Decision 6"/>
          <p:cNvSpPr/>
          <p:nvPr/>
        </p:nvSpPr>
        <p:spPr>
          <a:xfrm>
            <a:off x="468000" y="2916000"/>
            <a:ext cx="2016000" cy="792000"/>
          </a:xfrm>
          <a:prstGeom prst="flowChartDecision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Python–Julia bit-exact</a:t>
            </a:r>
          </a:p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and initial RoCoF within</a:t>
            </a:r>
          </a:p>
          <a:p>
            <a:pPr algn="ctr"/>
            <a:r>
              <a:rPr sz="720" b="0">
                <a:solidFill>
                  <a:srgbClr val="000000"/>
                </a:solidFill>
                <a:latin typeface="Times New Roman"/>
              </a:rPr>
              <a:t>0.5 % of ΔP/(2H</a:t>
            </a:r>
            <a:r>
              <a:rPr sz="720" b="0" baseline="-25000">
                <a:solidFill>
                  <a:srgbClr val="000000"/>
                </a:solidFill>
                <a:latin typeface="Times New Roman"/>
              </a:rPr>
              <a:t>sys</a:t>
            </a:r>
            <a:r>
              <a:rPr sz="720" b="0">
                <a:solidFill>
                  <a:srgbClr val="000000"/>
                </a:solidFill>
                <a:latin typeface="Times New Roman"/>
              </a:rPr>
              <a:t>)?</a:t>
            </a:r>
          </a:p>
        </p:txBody>
      </p:sp>
      <p:sp>
        <p:nvSpPr>
          <p:cNvPr id="8" name="Process 7"/>
          <p:cNvSpPr/>
          <p:nvPr/>
        </p:nvSpPr>
        <p:spPr>
          <a:xfrm>
            <a:off x="288000" y="3852000"/>
            <a:ext cx="2376000" cy="576000"/>
          </a:xfrm>
          <a:prstGeom prst="flowChartProcess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Scenario evaluation: S1–S5 × five controllers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× 100 realisations; nadir, RoCoF, MPP deviation,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BESS throughput; effect sizes (Cliff's δ)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76000" y="360000"/>
            <a:ext cx="0" cy="144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76000" y="972000"/>
            <a:ext cx="0" cy="144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76000" y="1620000"/>
            <a:ext cx="0" cy="144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76000" y="2196000"/>
            <a:ext cx="0" cy="144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76000" y="2772000"/>
            <a:ext cx="0" cy="144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76000" y="3708000"/>
            <a:ext cx="0" cy="144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30000" y="3700800"/>
            <a:ext cx="324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 i="1">
                <a:solidFill>
                  <a:srgbClr val="000000"/>
                </a:solidFill>
                <a:latin typeface="Times New Roman"/>
              </a:rPr>
              <a:t>Yes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26000" y="3312000"/>
            <a:ext cx="3420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6000" y="1368000"/>
            <a:ext cx="0" cy="19440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6000" y="1368000"/>
            <a:ext cx="1620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8000" y="3171600"/>
            <a:ext cx="324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 i="1">
                <a:solidFill>
                  <a:srgbClr val="000000"/>
                </a:solidFill>
                <a:latin typeface="Times New Roman"/>
              </a:rPr>
              <a:t>No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76000" y="4428000"/>
            <a:ext cx="0" cy="126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nector 20"/>
          <p:cNvSpPr/>
          <p:nvPr/>
        </p:nvSpPr>
        <p:spPr>
          <a:xfrm>
            <a:off x="1368000" y="4554000"/>
            <a:ext cx="216000" cy="216000"/>
          </a:xfrm>
          <a:prstGeom prst="flowChartConnector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A</a:t>
            </a:r>
          </a:p>
        </p:txBody>
      </p:sp>
      <p:sp>
        <p:nvSpPr>
          <p:cNvPr id="22" name="Connector 21"/>
          <p:cNvSpPr/>
          <p:nvPr/>
        </p:nvSpPr>
        <p:spPr>
          <a:xfrm>
            <a:off x="2790000" y="1260000"/>
            <a:ext cx="216000" cy="216000"/>
          </a:xfrm>
          <a:prstGeom prst="flowChartConnector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B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664000" y="1368000"/>
            <a:ext cx="1260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nnector 23"/>
          <p:cNvSpPr/>
          <p:nvPr/>
        </p:nvSpPr>
        <p:spPr>
          <a:xfrm>
            <a:off x="4392000" y="72000"/>
            <a:ext cx="216000" cy="216000"/>
          </a:xfrm>
          <a:prstGeom prst="flowChartConnector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00000" y="288000"/>
            <a:ext cx="0" cy="144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rocess 25"/>
          <p:cNvSpPr/>
          <p:nvPr/>
        </p:nvSpPr>
        <p:spPr>
          <a:xfrm>
            <a:off x="3312000" y="432000"/>
            <a:ext cx="2376000" cy="432000"/>
          </a:xfrm>
          <a:prstGeom prst="flowChartProcess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Spectral limit-cycle test for each controller: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P</a:t>
            </a:r>
            <a:r>
              <a:rPr sz="800" b="0" baseline="-25000">
                <a:solidFill>
                  <a:srgbClr val="000000"/>
                </a:solidFill>
                <a:latin typeface="Times New Roman"/>
              </a:rPr>
              <a:t>p2p</a:t>
            </a:r>
            <a:r>
              <a:rPr sz="800" b="0">
                <a:solidFill>
                  <a:srgbClr val="000000"/>
                </a:solidFill>
                <a:latin typeface="Times New Roman"/>
              </a:rPr>
              <a:t> &gt; 0.01 pu and f</a:t>
            </a:r>
            <a:r>
              <a:rPr sz="800" b="0" baseline="-25000">
                <a:solidFill>
                  <a:srgbClr val="000000"/>
                </a:solidFill>
                <a:latin typeface="Times New Roman"/>
              </a:rPr>
              <a:t>osc</a:t>
            </a:r>
            <a:r>
              <a:rPr sz="800" b="0">
                <a:solidFill>
                  <a:srgbClr val="000000"/>
                </a:solidFill>
                <a:latin typeface="Times New Roman"/>
              </a:rPr>
              <a:t> &gt; 2/T</a:t>
            </a:r>
            <a:r>
              <a:rPr sz="800" b="0" baseline="-25000">
                <a:solidFill>
                  <a:srgbClr val="000000"/>
                </a:solidFill>
                <a:latin typeface="Times New Roman"/>
              </a:rPr>
              <a:t>w</a:t>
            </a:r>
            <a:r>
              <a:rPr sz="800" b="0">
                <a:solidFill>
                  <a:srgbClr val="000000"/>
                </a:solidFill>
                <a:latin typeface="Times New Roman"/>
              </a:rPr>
              <a:t> (6–8 s)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00000" y="864000"/>
            <a:ext cx="0" cy="108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ecision 27"/>
          <p:cNvSpPr/>
          <p:nvPr/>
        </p:nvSpPr>
        <p:spPr>
          <a:xfrm>
            <a:off x="3708000" y="972000"/>
            <a:ext cx="1584000" cy="936000"/>
          </a:xfrm>
          <a:prstGeom prst="flowChartDecision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50" b="0">
                <a:solidFill>
                  <a:srgbClr val="000000"/>
                </a:solidFill>
                <a:latin typeface="Times New Roman"/>
              </a:rPr>
              <a:t>Threshold</a:t>
            </a:r>
          </a:p>
          <a:p>
            <a:pPr algn="ctr"/>
            <a:r>
              <a:rPr sz="750" b="0">
                <a:solidFill>
                  <a:srgbClr val="000000"/>
                </a:solidFill>
                <a:latin typeface="Times New Roman"/>
              </a:rPr>
              <a:t>(relay) battery</a:t>
            </a:r>
          </a:p>
          <a:p>
            <a:pPr algn="ctr"/>
            <a:r>
              <a:rPr sz="750" b="0">
                <a:solidFill>
                  <a:srgbClr val="000000"/>
                </a:solidFill>
                <a:latin typeface="Times New Roman"/>
              </a:rPr>
              <a:t>dispatch?</a:t>
            </a:r>
          </a:p>
        </p:txBody>
      </p:sp>
      <p:sp>
        <p:nvSpPr>
          <p:cNvPr id="29" name="Process 28"/>
          <p:cNvSpPr/>
          <p:nvPr/>
        </p:nvSpPr>
        <p:spPr>
          <a:xfrm>
            <a:off x="2736000" y="2052000"/>
            <a:ext cx="1368000" cy="720000"/>
          </a:xfrm>
          <a:prstGeom prst="flowChartProcess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30" b="0">
                <a:solidFill>
                  <a:srgbClr val="000000"/>
                </a:solidFill>
                <a:latin typeface="Times New Roman"/>
              </a:rPr>
              <a:t>Describing function and</a:t>
            </a:r>
          </a:p>
          <a:p>
            <a:pPr algn="ctr"/>
            <a:r>
              <a:rPr sz="730" b="0">
                <a:solidFill>
                  <a:srgbClr val="000000"/>
                </a:solidFill>
                <a:latin typeface="Times New Roman"/>
              </a:rPr>
              <a:t>existence condition hΣ &lt; ΔP</a:t>
            </a:r>
            <a:r>
              <a:rPr sz="730" b="0" baseline="-25000">
                <a:solidFill>
                  <a:srgbClr val="000000"/>
                </a:solidFill>
                <a:latin typeface="Times New Roman"/>
              </a:rPr>
              <a:t>L</a:t>
            </a:r>
          </a:p>
          <a:p>
            <a:pPr algn="ctr"/>
            <a:r>
              <a:rPr sz="730" b="0">
                <a:solidFill>
                  <a:srgbClr val="000000"/>
                </a:solidFill>
                <a:latin typeface="Times New Roman"/>
              </a:rPr>
              <a:t>&lt; hΣ + M, checked against</a:t>
            </a:r>
          </a:p>
          <a:p>
            <a:pPr algn="ctr"/>
            <a:r>
              <a:rPr sz="730" b="0">
                <a:solidFill>
                  <a:srgbClr val="000000"/>
                </a:solidFill>
                <a:latin typeface="Times New Roman"/>
              </a:rPr>
              <a:t>detected cycles (Figure 7)</a:t>
            </a:r>
          </a:p>
        </p:txBody>
      </p:sp>
      <p:sp>
        <p:nvSpPr>
          <p:cNvPr id="30" name="Process 29"/>
          <p:cNvSpPr/>
          <p:nvPr/>
        </p:nvSpPr>
        <p:spPr>
          <a:xfrm>
            <a:off x="4896000" y="2052000"/>
            <a:ext cx="1368000" cy="720000"/>
          </a:xfrm>
          <a:prstGeom prst="flowChartProcess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30" b="0">
                <a:solidFill>
                  <a:srgbClr val="000000"/>
                </a:solidFill>
                <a:latin typeface="Times New Roman"/>
              </a:rPr>
              <a:t>Circle criterion: absence</a:t>
            </a:r>
          </a:p>
          <a:p>
            <a:pPr algn="ctr"/>
            <a:r>
              <a:rPr sz="730" b="0">
                <a:solidFill>
                  <a:srgbClr val="000000"/>
                </a:solidFill>
                <a:latin typeface="Times New Roman"/>
              </a:rPr>
              <a:t>certificate for smooth,</a:t>
            </a:r>
          </a:p>
          <a:p>
            <a:pPr algn="ctr"/>
            <a:r>
              <a:rPr sz="730" b="0">
                <a:solidFill>
                  <a:srgbClr val="000000"/>
                </a:solidFill>
                <a:latin typeface="Times New Roman"/>
              </a:rPr>
              <a:t>sector-bounded dispatch,</a:t>
            </a:r>
          </a:p>
          <a:p>
            <a:pPr algn="ctr"/>
            <a:r>
              <a:rPr sz="730" b="0">
                <a:solidFill>
                  <a:srgbClr val="000000"/>
                </a:solidFill>
                <a:latin typeface="Times New Roman"/>
              </a:rPr>
              <a:t>checked against test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420000" y="1440000"/>
            <a:ext cx="2880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420000" y="1440000"/>
            <a:ext cx="0" cy="612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384000" y="1278000"/>
            <a:ext cx="324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 i="1">
                <a:solidFill>
                  <a:srgbClr val="000000"/>
                </a:solidFill>
                <a:latin typeface="Times New Roman"/>
              </a:rPr>
              <a:t>Yes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92000" y="1440000"/>
            <a:ext cx="2880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0000" y="1440000"/>
            <a:ext cx="0" cy="612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36000" y="1278000"/>
            <a:ext cx="324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 i="1">
                <a:solidFill>
                  <a:srgbClr val="000000"/>
                </a:solidFill>
                <a:latin typeface="Times New Roman"/>
              </a:rPr>
              <a:t>No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420000" y="2772000"/>
            <a:ext cx="0" cy="720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420000" y="2844000"/>
            <a:ext cx="10800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580000" y="2772000"/>
            <a:ext cx="0" cy="720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4500000" y="2844000"/>
            <a:ext cx="10800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00000" y="2844000"/>
            <a:ext cx="0" cy="108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Process 41"/>
          <p:cNvSpPr/>
          <p:nvPr/>
        </p:nvSpPr>
        <p:spPr>
          <a:xfrm>
            <a:off x="3312000" y="2952000"/>
            <a:ext cx="2376000" cy="648000"/>
          </a:xfrm>
          <a:prstGeom prst="flowChartProcess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Robustness checks: relay at 49.7 Hz and latched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FFR, primary-reserve map, ablation of α and of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the gate, SOC near its limits, inertia sweep,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load rejection (S6)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00000" y="3600000"/>
            <a:ext cx="0" cy="108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rocess 43"/>
          <p:cNvSpPr/>
          <p:nvPr/>
        </p:nvSpPr>
        <p:spPr>
          <a:xfrm>
            <a:off x="3312000" y="3708000"/>
            <a:ext cx="2376000" cy="432000"/>
          </a:xfrm>
          <a:prstGeom prst="flowChartProcess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Switching-level testbed: coupled battery converter,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swing-equation grid emulator (Simulink)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00000" y="4140000"/>
            <a:ext cx="0" cy="108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ecision 45"/>
          <p:cNvSpPr/>
          <p:nvPr/>
        </p:nvSpPr>
        <p:spPr>
          <a:xfrm>
            <a:off x="3492000" y="4248000"/>
            <a:ext cx="2016000" cy="720000"/>
          </a:xfrm>
          <a:prstGeom prst="flowChartDecision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750" b="0">
                <a:solidFill>
                  <a:srgbClr val="000000"/>
                </a:solidFill>
                <a:latin typeface="Times New Roman"/>
              </a:rPr>
              <a:t>Nadir and P</a:t>
            </a:r>
            <a:r>
              <a:rPr sz="750" b="0" baseline="-25000">
                <a:solidFill>
                  <a:srgbClr val="000000"/>
                </a:solidFill>
                <a:latin typeface="Times New Roman"/>
              </a:rPr>
              <a:t>p2p</a:t>
            </a:r>
            <a:r>
              <a:rPr sz="750" b="0">
                <a:solidFill>
                  <a:srgbClr val="000000"/>
                </a:solidFill>
                <a:latin typeface="Times New Roman"/>
              </a:rPr>
              <a:t> agree</a:t>
            </a:r>
          </a:p>
          <a:p>
            <a:pPr algn="ctr"/>
            <a:r>
              <a:rPr sz="750" b="0">
                <a:solidFill>
                  <a:srgbClr val="000000"/>
                </a:solidFill>
                <a:latin typeface="Times New Roman"/>
              </a:rPr>
              <a:t>with averaged model?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508000" y="4608000"/>
            <a:ext cx="1980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526000" y="4464000"/>
            <a:ext cx="324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 i="1">
                <a:solidFill>
                  <a:srgbClr val="000000"/>
                </a:solidFill>
                <a:latin typeface="Times New Roman"/>
              </a:rPr>
              <a:t>No</a:t>
            </a:r>
          </a:p>
        </p:txBody>
      </p:sp>
      <p:sp>
        <p:nvSpPr>
          <p:cNvPr id="49" name="Connector 48"/>
          <p:cNvSpPr/>
          <p:nvPr/>
        </p:nvSpPr>
        <p:spPr>
          <a:xfrm>
            <a:off x="5706000" y="4500000"/>
            <a:ext cx="216000" cy="216000"/>
          </a:xfrm>
          <a:prstGeom prst="flowChartConnector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B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500000" y="4968000"/>
            <a:ext cx="0" cy="144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54000" y="4986000"/>
            <a:ext cx="324000" cy="14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 i="1">
                <a:solidFill>
                  <a:srgbClr val="000000"/>
                </a:solidFill>
                <a:latin typeface="Times New Roman"/>
              </a:rPr>
              <a:t>Yes</a:t>
            </a:r>
          </a:p>
        </p:txBody>
      </p:sp>
      <p:sp>
        <p:nvSpPr>
          <p:cNvPr id="52" name="Process 51"/>
          <p:cNvSpPr/>
          <p:nvPr/>
        </p:nvSpPr>
        <p:spPr>
          <a:xfrm>
            <a:off x="3312000" y="5112000"/>
            <a:ext cx="2376000" cy="396000"/>
          </a:xfrm>
          <a:prstGeom prst="flowChartProcess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Comparison with previous studies,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Times New Roman"/>
              </a:rPr>
              <a:t>limitations and conclusions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500000" y="5508000"/>
            <a:ext cx="0" cy="144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rminator 53"/>
          <p:cNvSpPr/>
          <p:nvPr/>
        </p:nvSpPr>
        <p:spPr>
          <a:xfrm>
            <a:off x="3960000" y="5652000"/>
            <a:ext cx="1080000" cy="252000"/>
          </a:xfrm>
          <a:prstGeom prst="flowChartTerminator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