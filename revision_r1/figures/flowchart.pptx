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6336000" cy="597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rminator 1"/>
          <p:cNvSpPr/>
          <p:nvPr/>
        </p:nvSpPr>
        <p:spPr>
          <a:xfrm>
            <a:off x="936000" y="108000"/>
            <a:ext cx="1080000" cy="252000"/>
          </a:xfrm>
          <a:prstGeom prst="flowChartTerminator">
            <a:avLst/>
          </a:prstGeom>
          <a:solidFill>
            <a:srgbClr val="FFFFFF"/>
          </a:solidFill>
          <a:ln w="1143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800" b="1">
                <a:solidFill>
                  <a:srgbClr val="000000"/>
                </a:solidFill>
                <a:latin typeface="Times New Roman"/>
              </a:rPr>
              <a:t>Start</a:t>
            </a:r>
          </a:p>
        </p:txBody>
      </p:sp>
      <p:sp>
        <p:nvSpPr>
          <p:cNvPr id="3" name="Data 2"/>
          <p:cNvSpPr/>
          <p:nvPr/>
        </p:nvSpPr>
        <p:spPr>
          <a:xfrm>
            <a:off x="288000" y="504000"/>
            <a:ext cx="2376000" cy="468000"/>
          </a:xfrm>
          <a:prstGeom prst="flowChartInputOutput">
            <a:avLst/>
          </a:prstGeom>
          <a:solidFill>
            <a:srgbClr val="FFFFFF"/>
          </a:solidFill>
          <a:ln w="1143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800" b="0">
                <a:solidFill>
                  <a:srgbClr val="000000"/>
                </a:solidFill>
                <a:latin typeface="Times New Roman"/>
              </a:rPr>
              <a:t>Input: plant and grid parameters (Table 2),</a:t>
            </a:r>
          </a:p>
          <a:p>
            <a:pPr algn="ctr"/>
            <a:r>
              <a:rPr sz="800" b="0">
                <a:solidFill>
                  <a:srgbClr val="000000"/>
                </a:solidFill>
                <a:latin typeface="Times New Roman"/>
              </a:rPr>
              <a:t>scenarios S1–S4 (Section 3.5)</a:t>
            </a:r>
          </a:p>
        </p:txBody>
      </p:sp>
      <p:sp>
        <p:nvSpPr>
          <p:cNvPr id="4" name="Process 3"/>
          <p:cNvSpPr/>
          <p:nvPr/>
        </p:nvSpPr>
        <p:spPr>
          <a:xfrm>
            <a:off x="288000" y="1116000"/>
            <a:ext cx="2376000" cy="504000"/>
          </a:xfrm>
          <a:prstGeom prst="flowChartProcess">
            <a:avLst/>
          </a:prstGeom>
          <a:solidFill>
            <a:srgbClr val="FFFFFF"/>
          </a:solidFill>
          <a:ln w="1143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800" b="0">
                <a:solidFill>
                  <a:srgbClr val="000000"/>
                </a:solidFill>
                <a:latin typeface="Times New Roman"/>
              </a:rPr>
              <a:t>Averaged PV–BESS model: single-diode PV,</a:t>
            </a:r>
          </a:p>
          <a:p>
            <a:pPr algn="ctr"/>
            <a:r>
              <a:rPr sz="800" b="0">
                <a:solidFill>
                  <a:srgbClr val="000000"/>
                </a:solidFill>
                <a:latin typeface="Times New Roman"/>
              </a:rPr>
              <a:t>P&amp;O MPPT, battery SOC, PLL, VIC and</a:t>
            </a:r>
          </a:p>
          <a:p>
            <a:pPr algn="ctr"/>
            <a:r>
              <a:rPr sz="800" b="0">
                <a:solidFill>
                  <a:srgbClr val="000000"/>
                </a:solidFill>
                <a:latin typeface="Times New Roman"/>
              </a:rPr>
              <a:t>aggregate swing equation (Python and Julia)</a:t>
            </a:r>
          </a:p>
        </p:txBody>
      </p:sp>
      <p:sp>
        <p:nvSpPr>
          <p:cNvPr id="5" name="Process 4"/>
          <p:cNvSpPr/>
          <p:nvPr/>
        </p:nvSpPr>
        <p:spPr>
          <a:xfrm>
            <a:off x="288000" y="1764000"/>
            <a:ext cx="2376000" cy="432000"/>
          </a:xfrm>
          <a:prstGeom prst="flowChartProcess">
            <a:avLst/>
          </a:prstGeom>
          <a:solidFill>
            <a:srgbClr val="FFFFFF"/>
          </a:solidFill>
          <a:ln w="1143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800" b="0">
                <a:solidFill>
                  <a:srgbClr val="000000"/>
                </a:solidFill>
                <a:latin typeface="Times New Roman"/>
              </a:rPr>
              <a:t>Coordination law: severity weight α (3), SOC-aware</a:t>
            </a:r>
          </a:p>
          <a:p>
            <a:pPr algn="ctr"/>
            <a:r>
              <a:rPr sz="800" b="0">
                <a:solidFill>
                  <a:srgbClr val="000000"/>
                </a:solidFill>
                <a:latin typeface="Times New Roman"/>
              </a:rPr>
              <a:t>gate β (4), reference P</a:t>
            </a:r>
            <a:r>
              <a:rPr sz="800" b="0" baseline="-25000">
                <a:solidFill>
                  <a:srgbClr val="000000"/>
                </a:solidFill>
                <a:latin typeface="Times New Roman"/>
              </a:rPr>
              <a:t>ref</a:t>
            </a:r>
            <a:r>
              <a:rPr sz="800" b="0">
                <a:solidFill>
                  <a:srgbClr val="000000"/>
                </a:solidFill>
                <a:latin typeface="Times New Roman"/>
              </a:rPr>
              <a:t> (5); four baselines</a:t>
            </a:r>
          </a:p>
        </p:txBody>
      </p:sp>
      <p:sp>
        <p:nvSpPr>
          <p:cNvPr id="6" name="Process 5"/>
          <p:cNvSpPr/>
          <p:nvPr/>
        </p:nvSpPr>
        <p:spPr>
          <a:xfrm>
            <a:off x="288000" y="2340000"/>
            <a:ext cx="2376000" cy="432000"/>
          </a:xfrm>
          <a:prstGeom prst="flowChartProcess">
            <a:avLst/>
          </a:prstGeom>
          <a:solidFill>
            <a:srgbClr val="FFFFFF"/>
          </a:solidFill>
          <a:ln w="1143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800" b="0">
                <a:solidFill>
                  <a:srgbClr val="000000"/>
                </a:solidFill>
                <a:latin typeface="Times New Roman"/>
              </a:rPr>
              <a:t>Robust tuning: Monte Carlo sampling with CVaR</a:t>
            </a:r>
          </a:p>
          <a:p>
            <a:pPr algn="ctr"/>
            <a:r>
              <a:rPr sz="800" b="0">
                <a:solidFill>
                  <a:srgbClr val="000000"/>
                </a:solidFill>
                <a:latin typeface="Times New Roman"/>
              </a:rPr>
              <a:t>(γ = 0.95), NSGA-II, knee-point gain set</a:t>
            </a:r>
          </a:p>
        </p:txBody>
      </p:sp>
      <p:sp>
        <p:nvSpPr>
          <p:cNvPr id="7" name="Decision 6"/>
          <p:cNvSpPr/>
          <p:nvPr/>
        </p:nvSpPr>
        <p:spPr>
          <a:xfrm>
            <a:off x="468000" y="2916000"/>
            <a:ext cx="2016000" cy="792000"/>
          </a:xfrm>
          <a:prstGeom prst="flowChartDecision">
            <a:avLst/>
          </a:prstGeom>
          <a:solidFill>
            <a:srgbClr val="FFFFFF"/>
          </a:solidFill>
          <a:ln w="1143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20" b="0">
                <a:solidFill>
                  <a:srgbClr val="000000"/>
                </a:solidFill>
                <a:latin typeface="Times New Roman"/>
              </a:rPr>
              <a:t>Python–Julia bit-exact</a:t>
            </a:r>
          </a:p>
          <a:p>
            <a:pPr algn="ctr"/>
            <a:r>
              <a:rPr sz="720" b="0">
                <a:solidFill>
                  <a:srgbClr val="000000"/>
                </a:solidFill>
                <a:latin typeface="Times New Roman"/>
              </a:rPr>
              <a:t>and initial RoCoF within</a:t>
            </a:r>
          </a:p>
          <a:p>
            <a:pPr algn="ctr"/>
            <a:r>
              <a:rPr sz="720" b="0">
                <a:solidFill>
                  <a:srgbClr val="000000"/>
                </a:solidFill>
                <a:latin typeface="Times New Roman"/>
              </a:rPr>
              <a:t>0.5 % of ΔP/(2H</a:t>
            </a:r>
            <a:r>
              <a:rPr sz="720" b="0" baseline="-25000">
                <a:solidFill>
                  <a:srgbClr val="000000"/>
                </a:solidFill>
                <a:latin typeface="Times New Roman"/>
              </a:rPr>
              <a:t>sys</a:t>
            </a:r>
            <a:r>
              <a:rPr sz="720" b="0">
                <a:solidFill>
                  <a:srgbClr val="000000"/>
                </a:solidFill>
                <a:latin typeface="Times New Roman"/>
              </a:rPr>
              <a:t>)?</a:t>
            </a:r>
          </a:p>
        </p:txBody>
      </p:sp>
      <p:sp>
        <p:nvSpPr>
          <p:cNvPr id="8" name="Process 7"/>
          <p:cNvSpPr/>
          <p:nvPr/>
        </p:nvSpPr>
        <p:spPr>
          <a:xfrm>
            <a:off x="288000" y="3852000"/>
            <a:ext cx="2376000" cy="576000"/>
          </a:xfrm>
          <a:prstGeom prst="flowChartProcess">
            <a:avLst/>
          </a:prstGeom>
          <a:solidFill>
            <a:srgbClr val="FFFFFF"/>
          </a:solidFill>
          <a:ln w="1143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800" b="0">
                <a:solidFill>
                  <a:srgbClr val="000000"/>
                </a:solidFill>
                <a:latin typeface="Times New Roman"/>
              </a:rPr>
              <a:t>Scenario evaluation: S1–S4 × five controllers</a:t>
            </a:r>
          </a:p>
          <a:p>
            <a:pPr algn="ctr"/>
            <a:r>
              <a:rPr sz="800" b="0">
                <a:solidFill>
                  <a:srgbClr val="000000"/>
                </a:solidFill>
                <a:latin typeface="Times New Roman"/>
              </a:rPr>
              <a:t>× 100 realisations; nadir, RoCoF, MPP deviation,</a:t>
            </a:r>
          </a:p>
          <a:p>
            <a:pPr algn="ctr"/>
            <a:r>
              <a:rPr sz="800" b="0">
                <a:solidFill>
                  <a:srgbClr val="000000"/>
                </a:solidFill>
                <a:latin typeface="Times New Roman"/>
              </a:rPr>
              <a:t>BESS throughput; effect sizes (Cliff's δ)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76000" y="360000"/>
            <a:ext cx="0" cy="144000"/>
          </a:xfrm>
          <a:prstGeom prst="line">
            <a:avLst/>
          </a:prstGeom>
          <a:ln w="11430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476000" y="972000"/>
            <a:ext cx="0" cy="144000"/>
          </a:xfrm>
          <a:prstGeom prst="line">
            <a:avLst/>
          </a:prstGeom>
          <a:ln w="11430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476000" y="1620000"/>
            <a:ext cx="0" cy="144000"/>
          </a:xfrm>
          <a:prstGeom prst="line">
            <a:avLst/>
          </a:prstGeom>
          <a:ln w="11430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476000" y="2196000"/>
            <a:ext cx="0" cy="144000"/>
          </a:xfrm>
          <a:prstGeom prst="line">
            <a:avLst/>
          </a:prstGeom>
          <a:ln w="11430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476000" y="2772000"/>
            <a:ext cx="0" cy="144000"/>
          </a:xfrm>
          <a:prstGeom prst="line">
            <a:avLst/>
          </a:prstGeom>
          <a:ln w="11430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476000" y="3708000"/>
            <a:ext cx="0" cy="144000"/>
          </a:xfrm>
          <a:prstGeom prst="line">
            <a:avLst/>
          </a:prstGeom>
          <a:ln w="11430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530000" y="3700800"/>
            <a:ext cx="324000" cy="14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750" i="1">
                <a:solidFill>
                  <a:srgbClr val="000000"/>
                </a:solidFill>
                <a:latin typeface="Times New Roman"/>
              </a:rPr>
              <a:t>Yes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126000" y="3312000"/>
            <a:ext cx="342000" cy="0"/>
          </a:xfrm>
          <a:prstGeom prst="line">
            <a:avLst/>
          </a:prstGeom>
          <a:ln w="1143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126000" y="1368000"/>
            <a:ext cx="0" cy="1944000"/>
          </a:xfrm>
          <a:prstGeom prst="line">
            <a:avLst/>
          </a:prstGeom>
          <a:ln w="1143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26000" y="1368000"/>
            <a:ext cx="162000" cy="0"/>
          </a:xfrm>
          <a:prstGeom prst="line">
            <a:avLst/>
          </a:prstGeom>
          <a:ln w="11430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288000" y="3171600"/>
            <a:ext cx="324000" cy="14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750" i="1">
                <a:solidFill>
                  <a:srgbClr val="000000"/>
                </a:solidFill>
                <a:latin typeface="Times New Roman"/>
              </a:rPr>
              <a:t>No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476000" y="4428000"/>
            <a:ext cx="0" cy="126000"/>
          </a:xfrm>
          <a:prstGeom prst="line">
            <a:avLst/>
          </a:prstGeom>
          <a:ln w="11430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onnector 20"/>
          <p:cNvSpPr/>
          <p:nvPr/>
        </p:nvSpPr>
        <p:spPr>
          <a:xfrm>
            <a:off x="1368000" y="4554000"/>
            <a:ext cx="216000" cy="216000"/>
          </a:xfrm>
          <a:prstGeom prst="flowChartConnector">
            <a:avLst/>
          </a:prstGeom>
          <a:solidFill>
            <a:srgbClr val="FFFFFF"/>
          </a:solidFill>
          <a:ln w="1143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800" b="1">
                <a:solidFill>
                  <a:srgbClr val="000000"/>
                </a:solidFill>
                <a:latin typeface="Times New Roman"/>
              </a:rPr>
              <a:t>A</a:t>
            </a:r>
          </a:p>
        </p:txBody>
      </p:sp>
      <p:sp>
        <p:nvSpPr>
          <p:cNvPr id="22" name="Connector 21"/>
          <p:cNvSpPr/>
          <p:nvPr/>
        </p:nvSpPr>
        <p:spPr>
          <a:xfrm>
            <a:off x="2790000" y="1260000"/>
            <a:ext cx="216000" cy="216000"/>
          </a:xfrm>
          <a:prstGeom prst="flowChartConnector">
            <a:avLst/>
          </a:prstGeom>
          <a:solidFill>
            <a:srgbClr val="FFFFFF"/>
          </a:solidFill>
          <a:ln w="1143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800" b="1">
                <a:solidFill>
                  <a:srgbClr val="000000"/>
                </a:solidFill>
                <a:latin typeface="Times New Roman"/>
              </a:rPr>
              <a:t>B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2664000" y="1368000"/>
            <a:ext cx="126000" cy="0"/>
          </a:xfrm>
          <a:prstGeom prst="line">
            <a:avLst/>
          </a:prstGeom>
          <a:ln w="11430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Connector 23"/>
          <p:cNvSpPr/>
          <p:nvPr/>
        </p:nvSpPr>
        <p:spPr>
          <a:xfrm>
            <a:off x="4392000" y="72000"/>
            <a:ext cx="216000" cy="216000"/>
          </a:xfrm>
          <a:prstGeom prst="flowChartConnector">
            <a:avLst/>
          </a:prstGeom>
          <a:solidFill>
            <a:srgbClr val="FFFFFF"/>
          </a:solidFill>
          <a:ln w="1143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800" b="1">
                <a:solidFill>
                  <a:srgbClr val="000000"/>
                </a:solidFill>
                <a:latin typeface="Times New Roman"/>
              </a:rPr>
              <a:t>A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500000" y="288000"/>
            <a:ext cx="0" cy="144000"/>
          </a:xfrm>
          <a:prstGeom prst="line">
            <a:avLst/>
          </a:prstGeom>
          <a:ln w="11430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Process 25"/>
          <p:cNvSpPr/>
          <p:nvPr/>
        </p:nvSpPr>
        <p:spPr>
          <a:xfrm>
            <a:off x="3312000" y="432000"/>
            <a:ext cx="2376000" cy="432000"/>
          </a:xfrm>
          <a:prstGeom prst="flowChartProcess">
            <a:avLst/>
          </a:prstGeom>
          <a:solidFill>
            <a:srgbClr val="FFFFFF"/>
          </a:solidFill>
          <a:ln w="1143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800" b="0">
                <a:solidFill>
                  <a:srgbClr val="000000"/>
                </a:solidFill>
                <a:latin typeface="Times New Roman"/>
              </a:rPr>
              <a:t>Spectral limit-cycle test for each controller:</a:t>
            </a:r>
          </a:p>
          <a:p>
            <a:pPr algn="ctr"/>
            <a:r>
              <a:rPr sz="800" b="0">
                <a:solidFill>
                  <a:srgbClr val="000000"/>
                </a:solidFill>
                <a:latin typeface="Times New Roman"/>
              </a:rPr>
              <a:t>P</a:t>
            </a:r>
            <a:r>
              <a:rPr sz="800" b="0" baseline="-25000">
                <a:solidFill>
                  <a:srgbClr val="000000"/>
                </a:solidFill>
                <a:latin typeface="Times New Roman"/>
              </a:rPr>
              <a:t>p2p</a:t>
            </a:r>
            <a:r>
              <a:rPr sz="800" b="0">
                <a:solidFill>
                  <a:srgbClr val="000000"/>
                </a:solidFill>
                <a:latin typeface="Times New Roman"/>
              </a:rPr>
              <a:t> &gt; 0.01 pu and f</a:t>
            </a:r>
            <a:r>
              <a:rPr sz="800" b="0" baseline="-25000">
                <a:solidFill>
                  <a:srgbClr val="000000"/>
                </a:solidFill>
                <a:latin typeface="Times New Roman"/>
              </a:rPr>
              <a:t>osc</a:t>
            </a:r>
            <a:r>
              <a:rPr sz="800" b="0">
                <a:solidFill>
                  <a:srgbClr val="000000"/>
                </a:solidFill>
                <a:latin typeface="Times New Roman"/>
              </a:rPr>
              <a:t> &gt; 2/T</a:t>
            </a:r>
            <a:r>
              <a:rPr sz="800" b="0" baseline="-25000">
                <a:solidFill>
                  <a:srgbClr val="000000"/>
                </a:solidFill>
                <a:latin typeface="Times New Roman"/>
              </a:rPr>
              <a:t>w</a:t>
            </a:r>
            <a:r>
              <a:rPr sz="800" b="0">
                <a:solidFill>
                  <a:srgbClr val="000000"/>
                </a:solidFill>
                <a:latin typeface="Times New Roman"/>
              </a:rPr>
              <a:t> (6–8 s)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500000" y="864000"/>
            <a:ext cx="0" cy="108000"/>
          </a:xfrm>
          <a:prstGeom prst="line">
            <a:avLst/>
          </a:prstGeom>
          <a:ln w="11430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Decision 27"/>
          <p:cNvSpPr/>
          <p:nvPr/>
        </p:nvSpPr>
        <p:spPr>
          <a:xfrm>
            <a:off x="3708000" y="972000"/>
            <a:ext cx="1584000" cy="936000"/>
          </a:xfrm>
          <a:prstGeom prst="flowChartDecision">
            <a:avLst/>
          </a:prstGeom>
          <a:solidFill>
            <a:srgbClr val="FFFFFF"/>
          </a:solidFill>
          <a:ln w="1143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50" b="0">
                <a:solidFill>
                  <a:srgbClr val="000000"/>
                </a:solidFill>
                <a:latin typeface="Times New Roman"/>
              </a:rPr>
              <a:t>Threshold</a:t>
            </a:r>
          </a:p>
          <a:p>
            <a:pPr algn="ctr"/>
            <a:r>
              <a:rPr sz="750" b="0">
                <a:solidFill>
                  <a:srgbClr val="000000"/>
                </a:solidFill>
                <a:latin typeface="Times New Roman"/>
              </a:rPr>
              <a:t>(relay) battery</a:t>
            </a:r>
          </a:p>
          <a:p>
            <a:pPr algn="ctr"/>
            <a:r>
              <a:rPr sz="750" b="0">
                <a:solidFill>
                  <a:srgbClr val="000000"/>
                </a:solidFill>
                <a:latin typeface="Times New Roman"/>
              </a:rPr>
              <a:t>dispatch?</a:t>
            </a:r>
          </a:p>
        </p:txBody>
      </p:sp>
      <p:sp>
        <p:nvSpPr>
          <p:cNvPr id="29" name="Process 28"/>
          <p:cNvSpPr/>
          <p:nvPr/>
        </p:nvSpPr>
        <p:spPr>
          <a:xfrm>
            <a:off x="2736000" y="2052000"/>
            <a:ext cx="1368000" cy="720000"/>
          </a:xfrm>
          <a:prstGeom prst="flowChartProcess">
            <a:avLst/>
          </a:prstGeom>
          <a:solidFill>
            <a:srgbClr val="FFFFFF"/>
          </a:solidFill>
          <a:ln w="1143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30" b="0">
                <a:solidFill>
                  <a:srgbClr val="000000"/>
                </a:solidFill>
                <a:latin typeface="Times New Roman"/>
              </a:rPr>
              <a:t>Describing function and</a:t>
            </a:r>
          </a:p>
          <a:p>
            <a:pPr algn="ctr"/>
            <a:r>
              <a:rPr sz="730" b="0">
                <a:solidFill>
                  <a:srgbClr val="000000"/>
                </a:solidFill>
                <a:latin typeface="Times New Roman"/>
              </a:rPr>
              <a:t>existence condition (6),</a:t>
            </a:r>
          </a:p>
          <a:p>
            <a:pPr algn="ctr"/>
            <a:r>
              <a:rPr sz="730" b="0">
                <a:solidFill>
                  <a:srgbClr val="000000"/>
                </a:solidFill>
                <a:latin typeface="Times New Roman"/>
              </a:rPr>
              <a:t>checked against detected</a:t>
            </a:r>
          </a:p>
          <a:p>
            <a:pPr algn="ctr"/>
            <a:r>
              <a:rPr sz="730" b="0">
                <a:solidFill>
                  <a:srgbClr val="000000"/>
                </a:solidFill>
                <a:latin typeface="Times New Roman"/>
              </a:rPr>
              <a:t>cycles (Figure 7)</a:t>
            </a:r>
          </a:p>
        </p:txBody>
      </p:sp>
      <p:sp>
        <p:nvSpPr>
          <p:cNvPr id="30" name="Process 29"/>
          <p:cNvSpPr/>
          <p:nvPr/>
        </p:nvSpPr>
        <p:spPr>
          <a:xfrm>
            <a:off x="4896000" y="2052000"/>
            <a:ext cx="1368000" cy="720000"/>
          </a:xfrm>
          <a:prstGeom prst="flowChartProcess">
            <a:avLst/>
          </a:prstGeom>
          <a:solidFill>
            <a:srgbClr val="FFFFFF"/>
          </a:solidFill>
          <a:ln w="1143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30" b="0">
                <a:solidFill>
                  <a:srgbClr val="000000"/>
                </a:solidFill>
                <a:latin typeface="Times New Roman"/>
              </a:rPr>
              <a:t>Circle criterion: absence</a:t>
            </a:r>
          </a:p>
          <a:p>
            <a:pPr algn="ctr"/>
            <a:r>
              <a:rPr sz="730" b="0">
                <a:solidFill>
                  <a:srgbClr val="000000"/>
                </a:solidFill>
                <a:latin typeface="Times New Roman"/>
              </a:rPr>
              <a:t>certificate for smooth,</a:t>
            </a:r>
          </a:p>
          <a:p>
            <a:pPr algn="ctr"/>
            <a:r>
              <a:rPr sz="730" b="0">
                <a:solidFill>
                  <a:srgbClr val="000000"/>
                </a:solidFill>
                <a:latin typeface="Times New Roman"/>
              </a:rPr>
              <a:t>sector-bounded dispatch,</a:t>
            </a:r>
          </a:p>
          <a:p>
            <a:pPr algn="ctr"/>
            <a:r>
              <a:rPr sz="730" b="0">
                <a:solidFill>
                  <a:srgbClr val="000000"/>
                </a:solidFill>
                <a:latin typeface="Times New Roman"/>
              </a:rPr>
              <a:t>checked against test</a:t>
            </a:r>
          </a:p>
        </p:txBody>
      </p:sp>
      <p:cxnSp>
        <p:nvCxnSpPr>
          <p:cNvPr id="31" name="Connector 30"/>
          <p:cNvCxnSpPr/>
          <p:nvPr/>
        </p:nvCxnSpPr>
        <p:spPr>
          <a:xfrm flipH="1">
            <a:off x="3420000" y="1440000"/>
            <a:ext cx="288000" cy="0"/>
          </a:xfrm>
          <a:prstGeom prst="line">
            <a:avLst/>
          </a:prstGeom>
          <a:ln w="1143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3420000" y="1440000"/>
            <a:ext cx="0" cy="612000"/>
          </a:xfrm>
          <a:prstGeom prst="line">
            <a:avLst/>
          </a:prstGeom>
          <a:ln w="11430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3384000" y="1278000"/>
            <a:ext cx="324000" cy="14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750" i="1">
                <a:solidFill>
                  <a:srgbClr val="000000"/>
                </a:solidFill>
                <a:latin typeface="Times New Roman"/>
              </a:rPr>
              <a:t>Yes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292000" y="1440000"/>
            <a:ext cx="288000" cy="0"/>
          </a:xfrm>
          <a:prstGeom prst="line">
            <a:avLst/>
          </a:prstGeom>
          <a:ln w="1143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0000" y="1440000"/>
            <a:ext cx="0" cy="612000"/>
          </a:xfrm>
          <a:prstGeom prst="line">
            <a:avLst/>
          </a:prstGeom>
          <a:ln w="11430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436000" y="1278000"/>
            <a:ext cx="324000" cy="14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750" i="1">
                <a:solidFill>
                  <a:srgbClr val="000000"/>
                </a:solidFill>
                <a:latin typeface="Times New Roman"/>
              </a:rPr>
              <a:t>No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3420000" y="2772000"/>
            <a:ext cx="0" cy="72000"/>
          </a:xfrm>
          <a:prstGeom prst="line">
            <a:avLst/>
          </a:prstGeom>
          <a:ln w="1143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3420000" y="2844000"/>
            <a:ext cx="1080000" cy="0"/>
          </a:xfrm>
          <a:prstGeom prst="line">
            <a:avLst/>
          </a:prstGeom>
          <a:ln w="1143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5580000" y="2772000"/>
            <a:ext cx="0" cy="72000"/>
          </a:xfrm>
          <a:prstGeom prst="line">
            <a:avLst/>
          </a:prstGeom>
          <a:ln w="1143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4500000" y="2844000"/>
            <a:ext cx="1080000" cy="0"/>
          </a:xfrm>
          <a:prstGeom prst="line">
            <a:avLst/>
          </a:prstGeom>
          <a:ln w="1143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4500000" y="2844000"/>
            <a:ext cx="0" cy="108000"/>
          </a:xfrm>
          <a:prstGeom prst="line">
            <a:avLst/>
          </a:prstGeom>
          <a:ln w="11430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Process 41"/>
          <p:cNvSpPr/>
          <p:nvPr/>
        </p:nvSpPr>
        <p:spPr>
          <a:xfrm>
            <a:off x="3312000" y="2952000"/>
            <a:ext cx="2376000" cy="648000"/>
          </a:xfrm>
          <a:prstGeom prst="flowChartProcess">
            <a:avLst/>
          </a:prstGeom>
          <a:solidFill>
            <a:srgbClr val="FFFFFF"/>
          </a:solidFill>
          <a:ln w="1143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800" b="0">
                <a:solidFill>
                  <a:srgbClr val="000000"/>
                </a:solidFill>
                <a:latin typeface="Times New Roman"/>
              </a:rPr>
              <a:t>Robustness checks: relay at 49.7 Hz and latched</a:t>
            </a:r>
          </a:p>
          <a:p>
            <a:pPr algn="ctr"/>
            <a:r>
              <a:rPr sz="800" b="0">
                <a:solidFill>
                  <a:srgbClr val="000000"/>
                </a:solidFill>
                <a:latin typeface="Times New Roman"/>
              </a:rPr>
              <a:t>FFR, primary reserve (map and S2–S3 runs),</a:t>
            </a:r>
          </a:p>
          <a:p>
            <a:pPr algn="ctr"/>
            <a:r>
              <a:rPr sz="800" b="0">
                <a:solidFill>
                  <a:srgbClr val="000000"/>
                </a:solidFill>
                <a:latin typeface="Times New Roman"/>
              </a:rPr>
              <a:t>ablation of α and of the gate, SOC near its</a:t>
            </a:r>
          </a:p>
          <a:p>
            <a:pPr algn="ctr"/>
            <a:r>
              <a:rPr sz="800" b="0">
                <a:solidFill>
                  <a:srgbClr val="000000"/>
                </a:solidFill>
                <a:latin typeface="Times New Roman"/>
              </a:rPr>
              <a:t>limits, inertia sweep, load rejection (S5)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4500000" y="3600000"/>
            <a:ext cx="0" cy="108000"/>
          </a:xfrm>
          <a:prstGeom prst="line">
            <a:avLst/>
          </a:prstGeom>
          <a:ln w="11430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Process 43"/>
          <p:cNvSpPr/>
          <p:nvPr/>
        </p:nvSpPr>
        <p:spPr>
          <a:xfrm>
            <a:off x="3312000" y="3708000"/>
            <a:ext cx="2376000" cy="432000"/>
          </a:xfrm>
          <a:prstGeom prst="flowChartProcess">
            <a:avLst/>
          </a:prstGeom>
          <a:solidFill>
            <a:srgbClr val="FFFFFF"/>
          </a:solidFill>
          <a:ln w="1143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800" b="0">
                <a:solidFill>
                  <a:srgbClr val="000000"/>
                </a:solidFill>
                <a:latin typeface="Times New Roman"/>
              </a:rPr>
              <a:t>Switching-level testbed: coupled battery converter,</a:t>
            </a:r>
          </a:p>
          <a:p>
            <a:pPr algn="ctr"/>
            <a:r>
              <a:rPr sz="800" b="0">
                <a:solidFill>
                  <a:srgbClr val="000000"/>
                </a:solidFill>
                <a:latin typeface="Times New Roman"/>
              </a:rPr>
              <a:t>swing-equation grid emulator (Simulink)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4500000" y="4140000"/>
            <a:ext cx="0" cy="108000"/>
          </a:xfrm>
          <a:prstGeom prst="line">
            <a:avLst/>
          </a:prstGeom>
          <a:ln w="11430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Decision 45"/>
          <p:cNvSpPr/>
          <p:nvPr/>
        </p:nvSpPr>
        <p:spPr>
          <a:xfrm>
            <a:off x="3492000" y="4248000"/>
            <a:ext cx="2016000" cy="720000"/>
          </a:xfrm>
          <a:prstGeom prst="flowChartDecision">
            <a:avLst/>
          </a:prstGeom>
          <a:solidFill>
            <a:srgbClr val="FFFFFF"/>
          </a:solidFill>
          <a:ln w="1143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50" b="0">
                <a:solidFill>
                  <a:srgbClr val="000000"/>
                </a:solidFill>
                <a:latin typeface="Times New Roman"/>
              </a:rPr>
              <a:t>Nadir and P</a:t>
            </a:r>
            <a:r>
              <a:rPr sz="750" b="0" baseline="-25000">
                <a:solidFill>
                  <a:srgbClr val="000000"/>
                </a:solidFill>
                <a:latin typeface="Times New Roman"/>
              </a:rPr>
              <a:t>p2p</a:t>
            </a:r>
            <a:r>
              <a:rPr sz="750" b="0">
                <a:solidFill>
                  <a:srgbClr val="000000"/>
                </a:solidFill>
                <a:latin typeface="Times New Roman"/>
              </a:rPr>
              <a:t> agree</a:t>
            </a:r>
          </a:p>
          <a:p>
            <a:pPr algn="ctr"/>
            <a:r>
              <a:rPr sz="750" b="0">
                <a:solidFill>
                  <a:srgbClr val="000000"/>
                </a:solidFill>
                <a:latin typeface="Times New Roman"/>
              </a:rPr>
              <a:t>with averaged model?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5508000" y="4608000"/>
            <a:ext cx="198000" cy="0"/>
          </a:xfrm>
          <a:prstGeom prst="line">
            <a:avLst/>
          </a:prstGeom>
          <a:ln w="11430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5526000" y="4464000"/>
            <a:ext cx="324000" cy="14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750" i="1">
                <a:solidFill>
                  <a:srgbClr val="000000"/>
                </a:solidFill>
                <a:latin typeface="Times New Roman"/>
              </a:rPr>
              <a:t>No</a:t>
            </a:r>
          </a:p>
        </p:txBody>
      </p:sp>
      <p:sp>
        <p:nvSpPr>
          <p:cNvPr id="49" name="Connector 48"/>
          <p:cNvSpPr/>
          <p:nvPr/>
        </p:nvSpPr>
        <p:spPr>
          <a:xfrm>
            <a:off x="5706000" y="4500000"/>
            <a:ext cx="216000" cy="216000"/>
          </a:xfrm>
          <a:prstGeom prst="flowChartConnector">
            <a:avLst/>
          </a:prstGeom>
          <a:solidFill>
            <a:srgbClr val="FFFFFF"/>
          </a:solidFill>
          <a:ln w="1143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800" b="1">
                <a:solidFill>
                  <a:srgbClr val="000000"/>
                </a:solidFill>
                <a:latin typeface="Times New Roman"/>
              </a:rPr>
              <a:t>B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500000" y="4968000"/>
            <a:ext cx="0" cy="144000"/>
          </a:xfrm>
          <a:prstGeom prst="line">
            <a:avLst/>
          </a:prstGeom>
          <a:ln w="11430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554000" y="4986000"/>
            <a:ext cx="324000" cy="14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750" i="1">
                <a:solidFill>
                  <a:srgbClr val="000000"/>
                </a:solidFill>
                <a:latin typeface="Times New Roman"/>
              </a:rPr>
              <a:t>Yes</a:t>
            </a:r>
          </a:p>
        </p:txBody>
      </p:sp>
      <p:sp>
        <p:nvSpPr>
          <p:cNvPr id="52" name="Process 51"/>
          <p:cNvSpPr/>
          <p:nvPr/>
        </p:nvSpPr>
        <p:spPr>
          <a:xfrm>
            <a:off x="3312000" y="5112000"/>
            <a:ext cx="2376000" cy="396000"/>
          </a:xfrm>
          <a:prstGeom prst="flowChartProcess">
            <a:avLst/>
          </a:prstGeom>
          <a:solidFill>
            <a:srgbClr val="FFFFFF"/>
          </a:solidFill>
          <a:ln w="1143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800" b="0">
                <a:solidFill>
                  <a:srgbClr val="000000"/>
                </a:solidFill>
                <a:latin typeface="Times New Roman"/>
              </a:rPr>
              <a:t>Comparison with previous studies,</a:t>
            </a:r>
          </a:p>
          <a:p>
            <a:pPr algn="ctr"/>
            <a:r>
              <a:rPr sz="800" b="0">
                <a:solidFill>
                  <a:srgbClr val="000000"/>
                </a:solidFill>
                <a:latin typeface="Times New Roman"/>
              </a:rPr>
              <a:t>limitations and conclusions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4500000" y="5508000"/>
            <a:ext cx="0" cy="144000"/>
          </a:xfrm>
          <a:prstGeom prst="line">
            <a:avLst/>
          </a:prstGeom>
          <a:ln w="11430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rminator 53"/>
          <p:cNvSpPr/>
          <p:nvPr/>
        </p:nvSpPr>
        <p:spPr>
          <a:xfrm>
            <a:off x="3960000" y="5652000"/>
            <a:ext cx="1080000" cy="252000"/>
          </a:xfrm>
          <a:prstGeom prst="flowChartTerminator">
            <a:avLst/>
          </a:prstGeom>
          <a:solidFill>
            <a:srgbClr val="FFFFFF"/>
          </a:solidFill>
          <a:ln w="1143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800" b="1">
                <a:solidFill>
                  <a:srgbClr val="000000"/>
                </a:solidFill>
                <a:latin typeface="Times New Roman"/>
              </a:rPr>
              <a:t>End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