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200000" cy="363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4000" y="280800"/>
            <a:ext cx="766800" cy="4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PV</a:t>
            </a:r>
          </a:p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array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1501200" y="280800"/>
            <a:ext cx="666000" cy="4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54800" y="280800"/>
            <a:ext cx="662400" cy="4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77200" y="280800"/>
            <a:ext cx="766800" cy="4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LCL</a:t>
            </a:r>
          </a:p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90000" y="280800"/>
            <a:ext cx="763199" cy="4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Grid</a:t>
            </a:r>
          </a:p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50 Hz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1200" y="1162800"/>
            <a:ext cx="489599" cy="25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i="0">
                <a:solidFill>
                  <a:srgbClr val="000000"/>
                </a:solidFill>
                <a:latin typeface="Times New Roman"/>
              </a:rPr>
              <a:t>PWM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3200" y="1026000"/>
            <a:ext cx="975599" cy="4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Bidirectional</a:t>
            </a:r>
          </a:p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DC–DC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1200" y="1011600"/>
            <a:ext cx="489599" cy="2556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i="0">
                <a:solidFill>
                  <a:srgbClr val="000000"/>
                </a:solidFill>
                <a:latin typeface="Times New Roman"/>
              </a:rPr>
              <a:t>PWM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1600" y="1677600"/>
            <a:ext cx="485999" cy="2556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i="0">
                <a:solidFill>
                  <a:srgbClr val="000000"/>
                </a:solidFill>
                <a:latin typeface="Times New Roman"/>
              </a:rPr>
              <a:t>PWM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7600" y="1818000"/>
            <a:ext cx="766800" cy="4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BESS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1828800"/>
            <a:ext cx="766800" cy="460800"/>
          </a:xfrm>
          <a:prstGeom prst="rect">
            <a:avLst/>
          </a:prstGeom>
          <a:solidFill>
            <a:srgbClr val="F2F2F2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MPPT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46800" y="1828800"/>
            <a:ext cx="878400" cy="460800"/>
          </a:xfrm>
          <a:prstGeom prst="rect">
            <a:avLst/>
          </a:prstGeom>
          <a:solidFill>
            <a:srgbClr val="F2F2F2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i="1">
                <a:solidFill>
                  <a:srgbClr val="000000"/>
                </a:solidFill>
                <a:latin typeface="Times New Roman"/>
              </a:rPr>
              <a:t>dq</a:t>
            </a:r>
            <a:r>
              <a:rPr sz="1000" i="0">
                <a:solidFill>
                  <a:srgbClr val="000000"/>
                </a:solidFill>
                <a:latin typeface="Times New Roman"/>
              </a:rPr>
              <a:t>-frame</a:t>
            </a:r>
          </a:p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current ctrl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7600" y="1828800"/>
            <a:ext cx="640800" cy="460800"/>
          </a:xfrm>
          <a:prstGeom prst="rect">
            <a:avLst/>
          </a:prstGeom>
          <a:solidFill>
            <a:srgbClr val="F2F2F2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VIC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38400" y="1900800"/>
            <a:ext cx="284400" cy="3168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i="1">
                <a:solidFill>
                  <a:srgbClr val="000000"/>
                </a:solidFill>
                <a:latin typeface="Times New Roman"/>
              </a:rPr>
              <a:t>d</a:t>
            </a:r>
            <a:r>
              <a:rPr sz="800" i="0">
                <a:solidFill>
                  <a:srgbClr val="000000"/>
                </a:solidFill>
                <a:latin typeface="Times New Roman"/>
              </a:rPr>
              <a:t>/</a:t>
            </a:r>
            <a:r>
              <a:rPr sz="800" i="1">
                <a:solidFill>
                  <a:srgbClr val="000000"/>
                </a:solidFill>
                <a:latin typeface="Times New Roman"/>
              </a:rPr>
              <a:t>dt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0000" y="1828800"/>
            <a:ext cx="763199" cy="460800"/>
          </a:xfrm>
          <a:prstGeom prst="rect">
            <a:avLst/>
          </a:prstGeom>
          <a:solidFill>
            <a:srgbClr val="F2F2F2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PLL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2800" y="2700000"/>
            <a:ext cx="1612800" cy="460799"/>
          </a:xfrm>
          <a:prstGeom prst="rect">
            <a:avLst/>
          </a:prstGeom>
          <a:solidFill>
            <a:srgbClr val="F2F2F2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i="0">
                <a:solidFill>
                  <a:srgbClr val="000000"/>
                </a:solidFill>
                <a:latin typeface="Times New Roman"/>
              </a:rPr>
              <a:t>Adaptive coordination</a:t>
            </a:r>
          </a:p>
          <a:p>
            <a:pPr algn="ctr"/>
            <a:r>
              <a:rPr sz="1000" i="1">
                <a:solidFill>
                  <a:srgbClr val="000000"/>
                </a:solidFill>
                <a:latin typeface="Times New Roman"/>
              </a:rPr>
              <a:t>α</a:t>
            </a:r>
            <a:r>
              <a:rPr sz="1000" i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i="1">
                <a:solidFill>
                  <a:srgbClr val="000000"/>
                </a:solidFill>
                <a:latin typeface="Times New Roman"/>
              </a:rPr>
              <a:t>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01200" y="280800"/>
            <a:ext cx="666000" cy="4860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08400" y="288000"/>
            <a:ext cx="216000" cy="108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i="0">
                <a:solidFill>
                  <a:srgbClr val="000000"/>
                </a:solidFill>
                <a:latin typeface="Times New Roman"/>
              </a:rPr>
              <a:t>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4000" y="651600"/>
            <a:ext cx="216000" cy="108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i="0">
                <a:solidFill>
                  <a:srgbClr val="000000"/>
                </a:solidFill>
                <a:latin typeface="Times New Roman"/>
              </a:rPr>
              <a:t>DC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54800" y="280800"/>
            <a:ext cx="662400" cy="4860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62000" y="288000"/>
            <a:ext cx="216000" cy="108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i="0">
                <a:solidFill>
                  <a:srgbClr val="000000"/>
                </a:solidFill>
                <a:latin typeface="Times New Roman"/>
              </a:rPr>
              <a:t>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4000" y="651600"/>
            <a:ext cx="216000" cy="108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00" i="0">
                <a:solidFill>
                  <a:srgbClr val="000000"/>
                </a:solidFill>
                <a:latin typeface="Times New Roman"/>
              </a:rPr>
              <a:t>AC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0800" y="529200"/>
            <a:ext cx="410400" cy="0"/>
          </a:xfrm>
          <a:prstGeom prst="line">
            <a:avLst/>
          </a:prstGeom>
          <a:ln w="3302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67200" y="529200"/>
            <a:ext cx="1587600" cy="0"/>
          </a:xfrm>
          <a:prstGeom prst="line">
            <a:avLst/>
          </a:prstGeom>
          <a:ln w="3302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17200" y="529200"/>
            <a:ext cx="360000" cy="0"/>
          </a:xfrm>
          <a:prstGeom prst="line">
            <a:avLst/>
          </a:prstGeom>
          <a:ln w="3302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44000" y="529200"/>
            <a:ext cx="846000" cy="0"/>
          </a:xfrm>
          <a:prstGeom prst="line">
            <a:avLst/>
          </a:prstGeom>
          <a:ln w="3302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62800" y="529200"/>
            <a:ext cx="0" cy="496800"/>
          </a:xfrm>
          <a:prstGeom prst="line">
            <a:avLst/>
          </a:prstGeom>
          <a:ln w="33020">
            <a:solidFill>
              <a:srgbClr val="000000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62800" y="1512000"/>
            <a:ext cx="0" cy="306000"/>
          </a:xfrm>
          <a:prstGeom prst="line">
            <a:avLst/>
          </a:prstGeom>
          <a:ln w="33020">
            <a:solidFill>
              <a:srgbClr val="000000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98400" y="529200"/>
            <a:ext cx="0" cy="1548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86800" y="684000"/>
            <a:ext cx="2232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86800" y="748800"/>
            <a:ext cx="2232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36000" y="766800"/>
            <a:ext cx="0" cy="396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9200" y="1728000"/>
            <a:ext cx="0" cy="1008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9200" y="1728000"/>
            <a:ext cx="11268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836000" y="1422000"/>
            <a:ext cx="0" cy="306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086000" y="766800"/>
            <a:ext cx="0" cy="2448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086000" y="1267200"/>
            <a:ext cx="0" cy="5616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42800" y="1267200"/>
            <a:ext cx="0" cy="4104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42800" y="1267200"/>
            <a:ext cx="2304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242800" y="1933200"/>
            <a:ext cx="0" cy="7668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962800" y="2304000"/>
            <a:ext cx="0" cy="39600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9200" y="2289600"/>
            <a:ext cx="0" cy="6444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09200" y="2934000"/>
            <a:ext cx="14436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765600" y="2772000"/>
            <a:ext cx="3204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086000" y="2289600"/>
            <a:ext cx="0" cy="4824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58000" y="2289600"/>
            <a:ext cx="0" cy="7956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3765600" y="3085200"/>
            <a:ext cx="12924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5378400" y="2059200"/>
            <a:ext cx="3600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6022800" y="2059200"/>
            <a:ext cx="367200" cy="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235200" y="2059200"/>
            <a:ext cx="0" cy="14076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2962800" y="3466800"/>
            <a:ext cx="32724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962800" y="3160800"/>
            <a:ext cx="0" cy="3060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778800" y="2289600"/>
            <a:ext cx="0" cy="128520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4240800" y="3574800"/>
            <a:ext cx="2538000" cy="0"/>
          </a:xfrm>
          <a:prstGeom prst="line">
            <a:avLst/>
          </a:prstGeom>
          <a:ln w="1143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240800" y="2289600"/>
            <a:ext cx="0" cy="1285200"/>
          </a:xfrm>
          <a:prstGeom prst="line">
            <a:avLst/>
          </a:prstGeom>
          <a:ln w="1143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43200" y="529200"/>
            <a:ext cx="2808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200" y="529200"/>
            <a:ext cx="0" cy="153000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3200" y="2059200"/>
            <a:ext cx="2808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958000" y="529200"/>
            <a:ext cx="0" cy="60840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4500000" y="1137600"/>
            <a:ext cx="14580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00000" y="1137600"/>
            <a:ext cx="0" cy="69120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958000" y="1137600"/>
            <a:ext cx="820800" cy="0"/>
          </a:xfrm>
          <a:prstGeom prst="line">
            <a:avLst/>
          </a:prstGeom>
          <a:ln w="11430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778800" y="1137600"/>
            <a:ext cx="0" cy="691200"/>
          </a:xfrm>
          <a:prstGeom prst="line">
            <a:avLst/>
          </a:prstGeom>
          <a:ln w="1143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2473200" y="504000"/>
            <a:ext cx="50400" cy="504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937600" y="504000"/>
            <a:ext cx="50400" cy="504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932800" y="504000"/>
            <a:ext cx="50400" cy="504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932800" y="1112400"/>
            <a:ext cx="50400" cy="504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210000" y="2034000"/>
            <a:ext cx="50400" cy="504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96000" y="54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0">
                <a:solidFill>
                  <a:srgbClr val="000000"/>
                </a:solidFill>
                <a:latin typeface="Times New Roman"/>
              </a:rPr>
              <a:t>Boost converter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46000" y="54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0">
                <a:solidFill>
                  <a:srgbClr val="000000"/>
                </a:solidFill>
                <a:latin typeface="Times New Roman"/>
              </a:rPr>
              <a:t>Inverter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46000" y="306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V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dc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96000" y="756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C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dc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18000" y="3132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0">
                <a:solidFill>
                  <a:srgbClr val="000000"/>
                </a:solidFill>
                <a:latin typeface="Times New Roman"/>
              </a:rPr>
              <a:t>PCC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8000" y="1512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duty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80000" y="792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g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pwm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36000" y="9468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v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abc</a:t>
            </a:r>
            <a:r>
              <a:rPr sz="900" i="0">
                <a:solidFill>
                  <a:srgbClr val="000000"/>
                </a:solidFill>
                <a:latin typeface="Times New Roman"/>
              </a:rPr>
              <a:t>, </a:t>
            </a:r>
            <a:r>
              <a:rPr sz="900" i="1">
                <a:solidFill>
                  <a:srgbClr val="000000"/>
                </a:solidFill>
                <a:latin typeface="Times New Roman"/>
              </a:rPr>
              <a:t>i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abc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86000" y="9468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v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abc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-190800" y="11952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V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pv</a:t>
            </a:r>
            <a:r>
              <a:rPr sz="900" i="0">
                <a:solidFill>
                  <a:srgbClr val="000000"/>
                </a:solidFill>
                <a:latin typeface="Times New Roman"/>
              </a:rPr>
              <a:t>, </a:t>
            </a:r>
            <a:r>
              <a:rPr sz="900" i="1">
                <a:solidFill>
                  <a:srgbClr val="000000"/>
                </a:solidFill>
                <a:latin typeface="Times New Roman"/>
              </a:rPr>
              <a:t>I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pv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46000" y="2412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SOC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76000" y="22428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βP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bat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9200" y="27108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P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mppt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48000" y="25668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P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ref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16000" y="26028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P</a:t>
            </a:r>
            <a:r>
              <a:rPr sz="900" i="1" baseline="-25000">
                <a:solidFill>
                  <a:srgbClr val="000000"/>
                </a:solidFill>
                <a:latin typeface="Times New Roman"/>
              </a:rPr>
              <a:t>vic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2000" y="18252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0">
                <a:solidFill>
                  <a:srgbClr val="000000"/>
                </a:solidFill>
                <a:latin typeface="Times New Roman"/>
              </a:rPr>
              <a:t>Δ</a:t>
            </a:r>
            <a:r>
              <a:rPr sz="900" i="1">
                <a:solidFill>
                  <a:srgbClr val="000000"/>
                </a:solidFill>
                <a:latin typeface="Times New Roman"/>
              </a:rPr>
              <a:t>ω̇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2800" y="18252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0">
                <a:solidFill>
                  <a:srgbClr val="000000"/>
                </a:solidFill>
                <a:latin typeface="Times New Roman"/>
              </a:rPr>
              <a:t>Δ</a:t>
            </a:r>
            <a:r>
              <a:rPr sz="900" i="1">
                <a:solidFill>
                  <a:srgbClr val="000000"/>
                </a:solidFill>
                <a:latin typeface="Times New Roman"/>
              </a:rPr>
              <a:t>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97200" y="3276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0">
                <a:solidFill>
                  <a:srgbClr val="000000"/>
                </a:solidFill>
                <a:latin typeface="Times New Roman"/>
              </a:rPr>
              <a:t>Δ</a:t>
            </a:r>
            <a:r>
              <a:rPr sz="900" i="1">
                <a:solidFill>
                  <a:srgbClr val="000000"/>
                </a:solidFill>
                <a:latin typeface="Times New Roman"/>
              </a:rPr>
              <a:t>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76800" y="3384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68000" y="414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00" i="0">
                <a:solidFill>
                  <a:srgbClr val="000000"/>
                </a:solidFill>
                <a:latin typeface="Times New Roman"/>
              </a:rPr>
              <a:t>///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66000" y="414000"/>
            <a:ext cx="1080000" cy="180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00" i="0">
                <a:solidFill>
                  <a:srgbClr val="000000"/>
                </a:solidFill>
                <a:latin typeface="Times New Roman"/>
              </a:rPr>
              <a:t>///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